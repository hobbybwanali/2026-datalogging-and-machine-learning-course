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8"/>
  </p:notesMasterIdLst>
  <p:sldIdLst>
    <p:sldId id="300" r:id="rId2"/>
    <p:sldId id="301" r:id="rId3"/>
    <p:sldId id="266" r:id="rId4"/>
    <p:sldId id="302" r:id="rId5"/>
    <p:sldId id="286" r:id="rId6"/>
    <p:sldId id="318" r:id="rId7"/>
    <p:sldId id="304" r:id="rId8"/>
    <p:sldId id="303" r:id="rId9"/>
    <p:sldId id="305" r:id="rId10"/>
    <p:sldId id="306" r:id="rId11"/>
    <p:sldId id="331" r:id="rId12"/>
    <p:sldId id="307" r:id="rId13"/>
    <p:sldId id="308" r:id="rId14"/>
    <p:sldId id="332" r:id="rId15"/>
    <p:sldId id="288" r:id="rId16"/>
    <p:sldId id="277" r:id="rId17"/>
    <p:sldId id="333" r:id="rId18"/>
    <p:sldId id="310" r:id="rId19"/>
    <p:sldId id="311" r:id="rId20"/>
    <p:sldId id="312" r:id="rId21"/>
    <p:sldId id="313" r:id="rId22"/>
    <p:sldId id="314" r:id="rId23"/>
    <p:sldId id="329" r:id="rId24"/>
    <p:sldId id="330" r:id="rId25"/>
    <p:sldId id="316" r:id="rId26"/>
    <p:sldId id="317" r:id="rId27"/>
  </p:sldIdLst>
  <p:sldSz cx="9144000" cy="5143500" type="screen16x9"/>
  <p:notesSz cx="6858000" cy="9144000"/>
  <p:embeddedFontLst>
    <p:embeddedFont>
      <p:font typeface="Lato" panose="020F0502020204030203" pitchFamily="34" charset="0"/>
      <p:regular r:id="rId29"/>
      <p:bold r:id="rId30"/>
      <p:italic r:id="rId31"/>
      <p:boldItalic r:id="rId32"/>
    </p:embeddedFont>
    <p:embeddedFont>
      <p:font typeface="Raleway" pitchFamily="2" charset="0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58220"/>
    <a:srgbClr val="0093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23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979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04bb6a45bf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04bb6a45bf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20483cfce3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20483cfce3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04bb6a45bf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04bb6a45bf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20483cfce3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20483cfce3_0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74A89213-C448-48C7-DBF1-59A04BA85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04bb6a45bf_0_68:notes">
            <a:extLst>
              <a:ext uri="{FF2B5EF4-FFF2-40B4-BE49-F238E27FC236}">
                <a16:creationId xmlns:a16="http://schemas.microsoft.com/office/drawing/2014/main" id="{9EF8E519-8CE7-71FC-A2C1-59CB5E7D3E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04bb6a45bf_0_68:notes">
            <a:extLst>
              <a:ext uri="{FF2B5EF4-FFF2-40B4-BE49-F238E27FC236}">
                <a16:creationId xmlns:a16="http://schemas.microsoft.com/office/drawing/2014/main" id="{8724A8AA-133E-63E5-1558-BF8E325AE2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93457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2198ddddeb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2198ddddeb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04bb6a45bf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04bb6a45bf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04bb6a45bf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04bb6a45bf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01B692B4-7FBD-67D5-80B6-44DD146A7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04bb6a45bf_0_79:notes">
            <a:extLst>
              <a:ext uri="{FF2B5EF4-FFF2-40B4-BE49-F238E27FC236}">
                <a16:creationId xmlns:a16="http://schemas.microsoft.com/office/drawing/2014/main" id="{FE461425-A1DB-E0EB-0674-186316A1E2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04bb6a45bf_0_79:notes">
            <a:extLst>
              <a:ext uri="{FF2B5EF4-FFF2-40B4-BE49-F238E27FC236}">
                <a16:creationId xmlns:a16="http://schemas.microsoft.com/office/drawing/2014/main" id="{9436EDDE-FC8A-973C-403E-890EA78D48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138910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97FE1064-4DC3-61D9-CC64-C5C489AB2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04bb6a45bf_0_79:notes">
            <a:extLst>
              <a:ext uri="{FF2B5EF4-FFF2-40B4-BE49-F238E27FC236}">
                <a16:creationId xmlns:a16="http://schemas.microsoft.com/office/drawing/2014/main" id="{B1CD396C-62CB-D018-9636-CA34B40C1A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04bb6a45bf_0_79:notes">
            <a:extLst>
              <a:ext uri="{FF2B5EF4-FFF2-40B4-BE49-F238E27FC236}">
                <a16:creationId xmlns:a16="http://schemas.microsoft.com/office/drawing/2014/main" id="{CA1C0315-A6BE-7928-3771-EF8E9F2773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847103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2198ddddeb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2198ddddeb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04bb6a45bf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04bb6a45bf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2192bfca75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32192bfca75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3bf1ff8f4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3bf1ff8f4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20483cfce3_0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20483cfce3_0_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C5CF043A-8BE5-EFB1-A52E-4C07A7EDF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04bb6a45bf_0_86:notes">
            <a:extLst>
              <a:ext uri="{FF2B5EF4-FFF2-40B4-BE49-F238E27FC236}">
                <a16:creationId xmlns:a16="http://schemas.microsoft.com/office/drawing/2014/main" id="{AF608159-29D0-664D-5F88-C771159177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04bb6a45bf_0_86:notes">
            <a:extLst>
              <a:ext uri="{FF2B5EF4-FFF2-40B4-BE49-F238E27FC236}">
                <a16:creationId xmlns:a16="http://schemas.microsoft.com/office/drawing/2014/main" id="{2B325758-5174-396E-F2BB-34B765E772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04652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87BCCB30-1138-84DC-9521-92DBE2BA6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04bb6a45bf_0_86:notes">
            <a:extLst>
              <a:ext uri="{FF2B5EF4-FFF2-40B4-BE49-F238E27FC236}">
                <a16:creationId xmlns:a16="http://schemas.microsoft.com/office/drawing/2014/main" id="{B79BF486-066C-756E-6005-CEF1F67EF1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04bb6a45bf_0_86:notes">
            <a:extLst>
              <a:ext uri="{FF2B5EF4-FFF2-40B4-BE49-F238E27FC236}">
                <a16:creationId xmlns:a16="http://schemas.microsoft.com/office/drawing/2014/main" id="{C1B64E2B-71C3-CA2E-5D86-41053BB966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5810407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D20D1AF1-5B7F-2DAC-0EA2-E91096A34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04bb6a45bf_0_86:notes">
            <a:extLst>
              <a:ext uri="{FF2B5EF4-FFF2-40B4-BE49-F238E27FC236}">
                <a16:creationId xmlns:a16="http://schemas.microsoft.com/office/drawing/2014/main" id="{2E1CE3FA-16A7-107D-2C19-5D32DFCD70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04bb6a45bf_0_86:notes">
            <a:extLst>
              <a:ext uri="{FF2B5EF4-FFF2-40B4-BE49-F238E27FC236}">
                <a16:creationId xmlns:a16="http://schemas.microsoft.com/office/drawing/2014/main" id="{9FDCAD0C-DBB8-5B01-B1F9-ADA66824A0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48227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5026228B-C94A-E856-637E-36A11858B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04bb6a45bf_0_86:notes">
            <a:extLst>
              <a:ext uri="{FF2B5EF4-FFF2-40B4-BE49-F238E27FC236}">
                <a16:creationId xmlns:a16="http://schemas.microsoft.com/office/drawing/2014/main" id="{597ADBA9-CF2C-5819-4556-9A5C567A8B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04bb6a45bf_0_86:notes">
            <a:extLst>
              <a:ext uri="{FF2B5EF4-FFF2-40B4-BE49-F238E27FC236}">
                <a16:creationId xmlns:a16="http://schemas.microsoft.com/office/drawing/2014/main" id="{24DE03E3-4E83-D11A-CC56-21A5B899D4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14411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D44ABD2E-90E5-ECDD-4E57-3CED14BF6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04bb6a45bf_0_86:notes">
            <a:extLst>
              <a:ext uri="{FF2B5EF4-FFF2-40B4-BE49-F238E27FC236}">
                <a16:creationId xmlns:a16="http://schemas.microsoft.com/office/drawing/2014/main" id="{86FCDFD1-B745-BC99-76F7-B6AF31B3E2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04bb6a45bf_0_86:notes">
            <a:extLst>
              <a:ext uri="{FF2B5EF4-FFF2-40B4-BE49-F238E27FC236}">
                <a16:creationId xmlns:a16="http://schemas.microsoft.com/office/drawing/2014/main" id="{51F91024-6C43-E29A-FAA0-CF98DCE2D2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473562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2219b20dbc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2219b20dbc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320952600ce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9" name="Google Shape;589;g320952600ce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321ad886a94_2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5" name="Google Shape;595;g321ad886a94_2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04bb6a45bf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04bb6a45bf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2219b20dbc_1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32219b20dbc_1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gradFill>
          <a:gsLst>
            <a:gs pos="20000">
              <a:srgbClr val="258220"/>
            </a:gs>
            <a:gs pos="100000">
              <a:schemeClr val="accent4">
                <a:lumMod val="50000"/>
              </a:schemeClr>
            </a:gs>
          </a:gsLst>
          <a:lin ang="5400000" scaled="1"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3373581" y="630225"/>
            <a:ext cx="5329643" cy="15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967474B-7381-4526-7E38-0D32D54451B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833" b="1833"/>
          <a:stretch/>
        </p:blipFill>
        <p:spPr>
          <a:xfrm>
            <a:off x="1049749" y="3892787"/>
            <a:ext cx="821842" cy="936437"/>
          </a:xfrm>
          <a:prstGeom prst="flowChartConnector">
            <a:avLst/>
          </a:prstGeom>
        </p:spPr>
      </p:pic>
      <p:pic>
        <p:nvPicPr>
          <p:cNvPr id="3" name="Google Shape;16;p2">
            <a:extLst>
              <a:ext uri="{FF2B5EF4-FFF2-40B4-BE49-F238E27FC236}">
                <a16:creationId xmlns:a16="http://schemas.microsoft.com/office/drawing/2014/main" id="{C63DA67F-460E-57CC-277A-BCD364C1175E}"/>
              </a:ext>
            </a:extLst>
          </p:cNvPr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892" y="3949389"/>
            <a:ext cx="815857" cy="823234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4" name="Graphic 3" descr="A collection of circles in various sizes and patterns">
            <a:extLst>
              <a:ext uri="{FF2B5EF4-FFF2-40B4-BE49-F238E27FC236}">
                <a16:creationId xmlns:a16="http://schemas.microsoft.com/office/drawing/2014/main" id="{FE569472-46F4-1D86-528D-C4D81704E32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258936" y="-331210"/>
            <a:ext cx="3869863" cy="38698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gradFill>
          <a:gsLst>
            <a:gs pos="20000">
              <a:srgbClr val="258220"/>
            </a:gs>
            <a:gs pos="100000">
              <a:schemeClr val="accent4">
                <a:lumMod val="50000"/>
              </a:schemeClr>
            </a:gs>
          </a:gsLst>
          <a:lin ang="5400000" scaled="1"/>
        </a:gra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4A27646-6A83-B706-2EB5-5055474CAC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833" b="1833"/>
          <a:stretch/>
        </p:blipFill>
        <p:spPr>
          <a:xfrm>
            <a:off x="406425" y="3721342"/>
            <a:ext cx="772167" cy="879836"/>
          </a:xfrm>
          <a:prstGeom prst="teardrop">
            <a:avLst>
              <a:gd name="adj" fmla="val 91029"/>
            </a:avLst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3" name="Google Shape;16;p2">
            <a:extLst>
              <a:ext uri="{FF2B5EF4-FFF2-40B4-BE49-F238E27FC236}">
                <a16:creationId xmlns:a16="http://schemas.microsoft.com/office/drawing/2014/main" id="{CE3AFB70-A9FC-9995-196B-D64D0E9ED454}"/>
              </a:ext>
            </a:extLst>
          </p:cNvPr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21718" y="3891146"/>
            <a:ext cx="815857" cy="823234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5C456B1F-52DC-D561-ACCF-9E40B252B4D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26269" y="186525"/>
            <a:ext cx="3171825" cy="3162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A6224A6-52F3-B7E4-83B3-905248D3C7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833" b="1833"/>
          <a:stretch/>
        </p:blipFill>
        <p:spPr>
          <a:xfrm>
            <a:off x="702562" y="4364365"/>
            <a:ext cx="569393" cy="648787"/>
          </a:xfrm>
          <a:prstGeom prst="flowChartConnector">
            <a:avLst/>
          </a:prstGeom>
        </p:spPr>
      </p:pic>
      <p:pic>
        <p:nvPicPr>
          <p:cNvPr id="3" name="Google Shape;16;p2">
            <a:extLst>
              <a:ext uri="{FF2B5EF4-FFF2-40B4-BE49-F238E27FC236}">
                <a16:creationId xmlns:a16="http://schemas.microsoft.com/office/drawing/2014/main" id="{BD7C265F-015D-4829-2865-20F2ACB96003}"/>
              </a:ext>
            </a:extLst>
          </p:cNvPr>
          <p:cNvPicPr preferRelativeResize="0"/>
          <p:nvPr userDrawn="1"/>
        </p:nvPicPr>
        <p:blipFill>
          <a:blip r:embed="rId3">
            <a:alphaModFix/>
            <a:duotone>
              <a:prstClr val="black"/>
              <a:srgbClr val="00931E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8474" y="4433572"/>
            <a:ext cx="457106" cy="570357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4" name="Graphic 3" descr="A collection of circles in various sizes and patterns">
            <a:extLst>
              <a:ext uri="{FF2B5EF4-FFF2-40B4-BE49-F238E27FC236}">
                <a16:creationId xmlns:a16="http://schemas.microsoft.com/office/drawing/2014/main" id="{A1635EED-C654-CCA5-0403-0483A1382B98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6914" y="130348"/>
            <a:ext cx="787320" cy="7873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F56898F-0138-203D-04BC-22CB29F3A56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562" y="4364365"/>
            <a:ext cx="569393" cy="648787"/>
          </a:xfrm>
          <a:prstGeom prst="flowChartConnector">
            <a:avLst/>
          </a:prstGeom>
        </p:spPr>
      </p:pic>
      <p:pic>
        <p:nvPicPr>
          <p:cNvPr id="3" name="Google Shape;16;p2">
            <a:extLst>
              <a:ext uri="{FF2B5EF4-FFF2-40B4-BE49-F238E27FC236}">
                <a16:creationId xmlns:a16="http://schemas.microsoft.com/office/drawing/2014/main" id="{C12CE42D-B2F8-1D25-B537-4E683CAFF1A7}"/>
              </a:ext>
            </a:extLst>
          </p:cNvPr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474" y="4433572"/>
            <a:ext cx="457106" cy="570357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4" name="Graphic 3" descr="A collection of circles in various sizes and patterns">
            <a:extLst>
              <a:ext uri="{FF2B5EF4-FFF2-40B4-BE49-F238E27FC236}">
                <a16:creationId xmlns:a16="http://schemas.microsoft.com/office/drawing/2014/main" id="{32D68CB8-5C6D-1F9E-5B16-6A386A0985F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6914" y="130348"/>
            <a:ext cx="787320" cy="7873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303300" y="411575"/>
            <a:ext cx="8053380" cy="63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 dirty="0"/>
          </a:p>
        </p:txBody>
      </p:sp>
      <p:sp>
        <p:nvSpPr>
          <p:cNvPr id="38" name="Google Shape;38;p6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4F681FF-5933-ED03-95BF-B85383DB0F2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562" y="4364365"/>
            <a:ext cx="569393" cy="648787"/>
          </a:xfrm>
          <a:prstGeom prst="flowChartConnector">
            <a:avLst/>
          </a:prstGeom>
        </p:spPr>
      </p:pic>
      <p:pic>
        <p:nvPicPr>
          <p:cNvPr id="3" name="Google Shape;16;p2">
            <a:extLst>
              <a:ext uri="{FF2B5EF4-FFF2-40B4-BE49-F238E27FC236}">
                <a16:creationId xmlns:a16="http://schemas.microsoft.com/office/drawing/2014/main" id="{2F55B31F-15A9-5FE6-1B3F-61D6843F6556}"/>
              </a:ext>
            </a:extLst>
          </p:cNvPr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474" y="4433572"/>
            <a:ext cx="457106" cy="570357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4" name="Graphic 3" descr="A collection of circles in various sizes and patterns">
            <a:extLst>
              <a:ext uri="{FF2B5EF4-FFF2-40B4-BE49-F238E27FC236}">
                <a16:creationId xmlns:a16="http://schemas.microsoft.com/office/drawing/2014/main" id="{153AD05C-FD76-70BD-A7E6-43461494663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56680" y="17915"/>
            <a:ext cx="787320" cy="7873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" name="Graphic 1" descr="A collection of circles in various sizes and patterns">
            <a:extLst>
              <a:ext uri="{FF2B5EF4-FFF2-40B4-BE49-F238E27FC236}">
                <a16:creationId xmlns:a16="http://schemas.microsoft.com/office/drawing/2014/main" id="{1B98B781-CA16-E3D1-1EDE-4AE8EAA683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6914" y="130348"/>
            <a:ext cx="787320" cy="7873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gradFill>
            <a:gsLst>
              <a:gs pos="20000">
                <a:srgbClr val="258220"/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gradFill>
                  <a:gsLst>
                    <a:gs pos="20000">
                      <a:srgbClr val="258220"/>
                    </a:gs>
                    <a:gs pos="100000">
                      <a:schemeClr val="accent4">
                        <a:lumMod val="50000"/>
                      </a:schemeClr>
                    </a:gs>
                  </a:gsLst>
                  <a:lin ang="5400000" scaled="1"/>
                </a:gra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52" name="Google Shape;52;p9"/>
          <p:cNvSpPr txBox="1">
            <a:spLocks noGrp="1"/>
          </p:cNvSpPr>
          <p:nvPr>
            <p:ph type="subTitle" idx="1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8" name="Google Shape;58;p10"/>
          <p:cNvSpPr txBox="1">
            <a:spLocks noGrp="1"/>
          </p:cNvSpPr>
          <p:nvPr>
            <p:ph type="body" idx="1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" name="Graphic 1" descr="A collection of circles in various sizes and patterns">
            <a:extLst>
              <a:ext uri="{FF2B5EF4-FFF2-40B4-BE49-F238E27FC236}">
                <a16:creationId xmlns:a16="http://schemas.microsoft.com/office/drawing/2014/main" id="{390A90B3-104E-B933-EC45-9138531A1E1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6914" y="130348"/>
            <a:ext cx="787320" cy="7873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3" name="Google Shape;63;p11"/>
          <p:cNvSpPr txBox="1">
            <a:spLocks noGrp="1"/>
          </p:cNvSpPr>
          <p:nvPr>
            <p:ph type="title" hasCustomPrompt="1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gradFill>
                  <a:gsLst>
                    <a:gs pos="20000">
                      <a:srgbClr val="258220"/>
                    </a:gs>
                    <a:gs pos="100000">
                      <a:schemeClr val="accent4">
                        <a:lumMod val="50000"/>
                      </a:schemeClr>
                    </a:gs>
                  </a:gsLst>
                  <a:lin ang="5400000" scaled="1"/>
                </a:gra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rPr dirty="0"/>
              <a:t>xx%</a:t>
            </a:r>
          </a:p>
        </p:txBody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F3C00FB-D7AC-9552-9B02-EE49EE126E7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562" y="4364365"/>
            <a:ext cx="569393" cy="648787"/>
          </a:xfrm>
          <a:prstGeom prst="flowChartConnector">
            <a:avLst/>
          </a:prstGeom>
        </p:spPr>
      </p:pic>
      <p:pic>
        <p:nvPicPr>
          <p:cNvPr id="3" name="Google Shape;16;p2">
            <a:extLst>
              <a:ext uri="{FF2B5EF4-FFF2-40B4-BE49-F238E27FC236}">
                <a16:creationId xmlns:a16="http://schemas.microsoft.com/office/drawing/2014/main" id="{79F3843D-74AF-22C8-04C9-546819712C77}"/>
              </a:ext>
            </a:extLst>
          </p:cNvPr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474" y="4433572"/>
            <a:ext cx="457106" cy="570357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4" name="Graphic 3" descr="A collection of circles in various sizes and patterns">
            <a:extLst>
              <a:ext uri="{FF2B5EF4-FFF2-40B4-BE49-F238E27FC236}">
                <a16:creationId xmlns:a16="http://schemas.microsoft.com/office/drawing/2014/main" id="{DB783C87-5211-3536-4932-20D6704CA38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6914" y="130348"/>
            <a:ext cx="787320" cy="78732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wiss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circuitpython.org/libraries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>
            <a:spLocks noGrp="1"/>
          </p:cNvSpPr>
          <p:nvPr>
            <p:ph type="ctrTitle"/>
          </p:nvPr>
        </p:nvSpPr>
        <p:spPr>
          <a:xfrm>
            <a:off x="3300761" y="630225"/>
            <a:ext cx="5402464" cy="15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US" dirty="0"/>
              <a:t>Electronics &amp; Python</a:t>
            </a:r>
            <a:endParaRPr dirty="0"/>
          </a:p>
        </p:txBody>
      </p:sp>
      <p:sp>
        <p:nvSpPr>
          <p:cNvPr id="73" name="Google Shape;73;p13"/>
          <p:cNvSpPr txBox="1">
            <a:spLocks noGrp="1"/>
          </p:cNvSpPr>
          <p:nvPr>
            <p:ph type="subTitle" idx="1"/>
          </p:nvPr>
        </p:nvSpPr>
        <p:spPr>
          <a:xfrm>
            <a:off x="2390267" y="3911600"/>
            <a:ext cx="6331500" cy="56855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/>
            <a:r>
              <a:rPr lang="pt-BR" dirty="0"/>
              <a:t>Hobby, Martin, 		`	</a:t>
            </a:r>
            <a:r>
              <a:rPr lang="en-US" dirty="0"/>
              <a:t>Week 1 – Day 2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US" dirty="0"/>
              <a:t>What Is a Microcontroller?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6561DC-AEB7-2489-F25C-1B356B7407B2}"/>
              </a:ext>
            </a:extLst>
          </p:cNvPr>
          <p:cNvSpPr txBox="1"/>
          <p:nvPr/>
        </p:nvSpPr>
        <p:spPr>
          <a:xfrm>
            <a:off x="2400250" y="1337804"/>
            <a:ext cx="63216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Small, programmable computer on a chip. Controls input/output devices. Examples: </a:t>
            </a:r>
            <a:r>
              <a:rPr lang="en-US" sz="2000" b="1" i="1" dirty="0"/>
              <a:t>Raspberry Pi Pico, Arduino</a:t>
            </a:r>
          </a:p>
          <a:p>
            <a:endParaRPr lang="en-US" sz="2000" dirty="0"/>
          </a:p>
          <a:p>
            <a:r>
              <a:rPr lang="en-US" sz="2000" dirty="0"/>
              <a:t>Microcontrollers are the brains behind smart devices. affordable, powerful, and perfect for data logging.</a:t>
            </a:r>
          </a:p>
        </p:txBody>
      </p:sp>
      <p:pic>
        <p:nvPicPr>
          <p:cNvPr id="2" name="Google Shape;191;p28">
            <a:extLst>
              <a:ext uri="{FF2B5EF4-FFF2-40B4-BE49-F238E27FC236}">
                <a16:creationId xmlns:a16="http://schemas.microsoft.com/office/drawing/2014/main" id="{60363573-0411-CEC2-DC50-9FA2B2CDC21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29002"/>
          <a:stretch/>
        </p:blipFill>
        <p:spPr>
          <a:xfrm>
            <a:off x="5772066" y="3276796"/>
            <a:ext cx="2859813" cy="13817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 txBox="1">
            <a:spLocks noGrp="1"/>
          </p:cNvSpPr>
          <p:nvPr>
            <p:ph type="title"/>
          </p:nvPr>
        </p:nvSpPr>
        <p:spPr>
          <a:xfrm>
            <a:off x="2833100" y="149437"/>
            <a:ext cx="5052600" cy="67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Laptop  vs Microcontroller</a:t>
            </a:r>
            <a:endParaRPr dirty="0"/>
          </a:p>
        </p:txBody>
      </p:sp>
      <p:sp>
        <p:nvSpPr>
          <p:cNvPr id="150" name="Google Shape;150;p23"/>
          <p:cNvSpPr txBox="1">
            <a:spLocks noGrp="1"/>
          </p:cNvSpPr>
          <p:nvPr>
            <p:ph type="body" idx="1"/>
          </p:nvPr>
        </p:nvSpPr>
        <p:spPr>
          <a:xfrm>
            <a:off x="4572000" y="1180092"/>
            <a:ext cx="3953213" cy="18286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2000" dirty="0"/>
              <a:t>Energy efficient</a:t>
            </a: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2000" dirty="0"/>
              <a:t>Cheap</a:t>
            </a: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2000" dirty="0"/>
              <a:t>Not as powerful as big computers</a:t>
            </a:r>
            <a:endParaRPr sz="2000" dirty="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2000" dirty="0"/>
              <a:t>Smaller memory</a:t>
            </a:r>
            <a:endParaRPr sz="2000" dirty="0"/>
          </a:p>
        </p:txBody>
      </p:sp>
      <p:pic>
        <p:nvPicPr>
          <p:cNvPr id="151" name="Google Shape;15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9388" y="2925910"/>
            <a:ext cx="2635475" cy="189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49138" y="2958710"/>
            <a:ext cx="2676075" cy="18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50;p23">
            <a:extLst>
              <a:ext uri="{FF2B5EF4-FFF2-40B4-BE49-F238E27FC236}">
                <a16:creationId xmlns:a16="http://schemas.microsoft.com/office/drawing/2014/main" id="{D9CECE24-3E88-EAFC-FDA3-FCD939169F30}"/>
              </a:ext>
            </a:extLst>
          </p:cNvPr>
          <p:cNvSpPr txBox="1">
            <a:spLocks/>
          </p:cNvSpPr>
          <p:nvPr/>
        </p:nvSpPr>
        <p:spPr>
          <a:xfrm>
            <a:off x="406400" y="1064850"/>
            <a:ext cx="3953213" cy="18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ato"/>
              <a:buChar char="●"/>
              <a:defRPr sz="12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ato"/>
              <a:buChar char="○"/>
              <a:defRPr sz="12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ato"/>
              <a:buChar char="■"/>
              <a:defRPr sz="12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ato"/>
              <a:buChar char="●"/>
              <a:defRPr sz="12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ato"/>
              <a:buChar char="○"/>
              <a:defRPr sz="12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ato"/>
              <a:buChar char="■"/>
              <a:defRPr sz="12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ato"/>
              <a:buChar char="●"/>
              <a:defRPr sz="12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ato"/>
              <a:buChar char="○"/>
              <a:defRPr sz="12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ato"/>
              <a:buChar char="■"/>
              <a:defRPr sz="1200" b="0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rPr lang="en-US" sz="2000" dirty="0"/>
              <a:t>Energy consuming</a:t>
            </a:r>
          </a:p>
          <a:p>
            <a:r>
              <a:rPr lang="en-US" sz="2000" dirty="0"/>
              <a:t>Expensive</a:t>
            </a:r>
          </a:p>
          <a:p>
            <a:r>
              <a:rPr lang="en-US" sz="2000" dirty="0"/>
              <a:t>powerful</a:t>
            </a:r>
          </a:p>
          <a:p>
            <a:r>
              <a:rPr lang="en-US" sz="2000" dirty="0"/>
              <a:t>larger memory</a:t>
            </a:r>
          </a:p>
        </p:txBody>
      </p:sp>
      <p:sp>
        <p:nvSpPr>
          <p:cNvPr id="3" name="Lightning Bolt 2">
            <a:extLst>
              <a:ext uri="{FF2B5EF4-FFF2-40B4-BE49-F238E27FC236}">
                <a16:creationId xmlns:a16="http://schemas.microsoft.com/office/drawing/2014/main" id="{42D319DA-9AAF-49B9-932F-EFED45323B9E}"/>
              </a:ext>
            </a:extLst>
          </p:cNvPr>
          <p:cNvSpPr/>
          <p:nvPr/>
        </p:nvSpPr>
        <p:spPr>
          <a:xfrm flipH="1">
            <a:off x="4163437" y="834232"/>
            <a:ext cx="196176" cy="3953128"/>
          </a:xfrm>
          <a:prstGeom prst="lightningBolt">
            <a:avLst/>
          </a:pr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US" dirty="0"/>
              <a:t>Raspberry Pi Pico Overview</a:t>
            </a:r>
            <a:endParaRPr dirty="0"/>
          </a:p>
        </p:txBody>
      </p:sp>
      <p:sp>
        <p:nvSpPr>
          <p:cNvPr id="85" name="Google Shape;85;p15"/>
          <p:cNvSpPr txBox="1">
            <a:spLocks noGrp="1"/>
          </p:cNvSpPr>
          <p:nvPr>
            <p:ph type="body" idx="1"/>
          </p:nvPr>
        </p:nvSpPr>
        <p:spPr>
          <a:xfrm>
            <a:off x="2410112" y="1363750"/>
            <a:ext cx="6321600" cy="256207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Has GPIO pins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USB connectivity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Supports </a:t>
            </a:r>
            <a:r>
              <a:rPr lang="en-US" sz="2400" dirty="0" err="1"/>
              <a:t>CircuitPython</a:t>
            </a:r>
            <a:r>
              <a:rPr lang="en-US" sz="2400" dirty="0"/>
              <a:t> and </a:t>
            </a:r>
            <a:r>
              <a:rPr lang="en-US" sz="2400" dirty="0" err="1"/>
              <a:t>MicroPython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114300" indent="0">
              <a:buNone/>
            </a:pPr>
            <a:r>
              <a:rPr lang="en-US" sz="2400" i="1" dirty="0"/>
              <a:t>The Pico is ideal for beginners as it uses python</a:t>
            </a:r>
          </a:p>
        </p:txBody>
      </p:sp>
      <p:pic>
        <p:nvPicPr>
          <p:cNvPr id="2" name="Google Shape;201;p29">
            <a:extLst>
              <a:ext uri="{FF2B5EF4-FFF2-40B4-BE49-F238E27FC236}">
                <a16:creationId xmlns:a16="http://schemas.microsoft.com/office/drawing/2014/main" id="{76A547B8-F7E9-11DE-4E7B-AAAF44D263F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7421747">
            <a:off x="-39852" y="2046230"/>
            <a:ext cx="2436040" cy="1409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3"/>
          <p:cNvSpPr txBox="1">
            <a:spLocks noGrp="1"/>
          </p:cNvSpPr>
          <p:nvPr>
            <p:ph type="title"/>
          </p:nvPr>
        </p:nvSpPr>
        <p:spPr>
          <a:xfrm>
            <a:off x="422150" y="1874985"/>
            <a:ext cx="2027973" cy="139352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Pico pinout</a:t>
            </a:r>
            <a:endParaRPr dirty="0"/>
          </a:p>
        </p:txBody>
      </p:sp>
      <p:pic>
        <p:nvPicPr>
          <p:cNvPr id="293" name="Google Shape;293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6749" y="586899"/>
            <a:ext cx="6615101" cy="3969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BE81CF2C-811D-9AAE-B103-903265CED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>
            <a:extLst>
              <a:ext uri="{FF2B5EF4-FFF2-40B4-BE49-F238E27FC236}">
                <a16:creationId xmlns:a16="http://schemas.microsoft.com/office/drawing/2014/main" id="{5BADC24E-92C6-321B-BFDB-867A6C44F6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011153" y="1890585"/>
            <a:ext cx="4710697" cy="150840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Faster and more compressed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USB connectivity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Supports C++</a:t>
            </a:r>
          </a:p>
          <a:p>
            <a:pPr marL="114300" indent="0">
              <a:buNone/>
            </a:pPr>
            <a:endParaRPr lang="en-US" sz="24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681EB69-99AC-A5DA-EDCD-8E7F4E9A3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Arduino Overview</a:t>
            </a:r>
          </a:p>
        </p:txBody>
      </p:sp>
      <p:pic>
        <p:nvPicPr>
          <p:cNvPr id="5" name="Google Shape;202;p29">
            <a:extLst>
              <a:ext uri="{FF2B5EF4-FFF2-40B4-BE49-F238E27FC236}">
                <a16:creationId xmlns:a16="http://schemas.microsoft.com/office/drawing/2014/main" id="{CFD3BCF0-43A6-2283-7569-C10141FB682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6965" y="1604299"/>
            <a:ext cx="2845226" cy="20809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585173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1"/>
          <p:cNvSpPr txBox="1">
            <a:spLocks noGrp="1"/>
          </p:cNvSpPr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lvl="0"/>
            <a:r>
              <a:rPr lang="en-US" dirty="0"/>
              <a:t>Components </a:t>
            </a:r>
            <a:br>
              <a:rPr lang="en-US" dirty="0"/>
            </a:br>
            <a:r>
              <a:rPr lang="en-US" dirty="0"/>
              <a:t>Basics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US" dirty="0"/>
              <a:t>Input vs Output Devices</a:t>
            </a: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4FAD3F3-950B-020C-AFFB-FF4D9139D4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846933"/>
              </p:ext>
            </p:extLst>
          </p:nvPr>
        </p:nvGraphicFramePr>
        <p:xfrm>
          <a:off x="2495169" y="1443228"/>
          <a:ext cx="6321426" cy="149352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1296543">
                  <a:extLst>
                    <a:ext uri="{9D8B030D-6E8A-4147-A177-3AD203B41FA5}">
                      <a16:colId xmlns:a16="http://schemas.microsoft.com/office/drawing/2014/main" val="281033344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4143332588"/>
                    </a:ext>
                  </a:extLst>
                </a:gridCol>
                <a:gridCol w="2464563">
                  <a:extLst>
                    <a:ext uri="{9D8B030D-6E8A-4147-A177-3AD203B41FA5}">
                      <a16:colId xmlns:a16="http://schemas.microsoft.com/office/drawing/2014/main" val="1437666518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solidFill>
                            <a:srgbClr val="258220"/>
                          </a:solidFill>
                        </a:rPr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solidFill>
                            <a:srgbClr val="258220"/>
                          </a:solidFill>
                        </a:rPr>
                        <a:t>Examples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solidFill>
                            <a:srgbClr val="258220"/>
                          </a:solidFill>
                        </a:rPr>
                        <a:t>Function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956958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solidFill>
                            <a:schemeClr val="bg2"/>
                          </a:solidFill>
                        </a:rPr>
                        <a:t>Input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solidFill>
                            <a:schemeClr val="bg2"/>
                          </a:solidFill>
                        </a:rPr>
                        <a:t>Buttons, sensors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solidFill>
                            <a:schemeClr val="bg2"/>
                          </a:solidFill>
                        </a:rPr>
                        <a:t>Send data to Pico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4208777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solidFill>
                            <a:schemeClr val="bg2"/>
                          </a:solidFill>
                        </a:rPr>
                        <a:t>Output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solidFill>
                            <a:schemeClr val="bg2"/>
                          </a:solidFill>
                        </a:rPr>
                        <a:t>LEDs, buzzers, motors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Receive commands from Pico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2111344"/>
                  </a:ext>
                </a:extLst>
              </a:tr>
            </a:tbl>
          </a:graphicData>
        </a:graphic>
      </p:graphicFrame>
      <p:pic>
        <p:nvPicPr>
          <p:cNvPr id="2" name="Google Shape;341;p50">
            <a:extLst>
              <a:ext uri="{FF2B5EF4-FFF2-40B4-BE49-F238E27FC236}">
                <a16:creationId xmlns:a16="http://schemas.microsoft.com/office/drawing/2014/main" id="{F717F49D-B83A-095A-AB20-700C77BF123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23884" y="3389250"/>
            <a:ext cx="1178300" cy="117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342;p50">
            <a:extLst>
              <a:ext uri="{FF2B5EF4-FFF2-40B4-BE49-F238E27FC236}">
                <a16:creationId xmlns:a16="http://schemas.microsoft.com/office/drawing/2014/main" id="{77A8E496-F1F7-910A-8E08-F0937E636DE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29258"/>
          <a:stretch/>
        </p:blipFill>
        <p:spPr>
          <a:xfrm>
            <a:off x="641816" y="2672011"/>
            <a:ext cx="1571926" cy="143447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345;p50">
            <a:extLst>
              <a:ext uri="{FF2B5EF4-FFF2-40B4-BE49-F238E27FC236}">
                <a16:creationId xmlns:a16="http://schemas.microsoft.com/office/drawing/2014/main" id="{9AF0FC28-724C-7877-0246-E7724F1355BB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rcRect t="7530" b="8978"/>
          <a:stretch>
            <a:fillRect/>
          </a:stretch>
        </p:blipFill>
        <p:spPr>
          <a:xfrm>
            <a:off x="4077022" y="3202119"/>
            <a:ext cx="1788828" cy="1493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344;p50">
            <a:extLst>
              <a:ext uri="{FF2B5EF4-FFF2-40B4-BE49-F238E27FC236}">
                <a16:creationId xmlns:a16="http://schemas.microsoft.com/office/drawing/2014/main" id="{002F0D34-DAF6-15A3-C6BD-BEC085E71C80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rcRect l="7609" t="20592" b="16052"/>
          <a:stretch>
            <a:fillRect/>
          </a:stretch>
        </p:blipFill>
        <p:spPr>
          <a:xfrm>
            <a:off x="327405" y="1211350"/>
            <a:ext cx="1624092" cy="11136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314;p46">
            <a:extLst>
              <a:ext uri="{FF2B5EF4-FFF2-40B4-BE49-F238E27FC236}">
                <a16:creationId xmlns:a16="http://schemas.microsoft.com/office/drawing/2014/main" id="{3E21D40D-86E0-9BF3-75C9-7FF3C3038306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325052" y="3389250"/>
            <a:ext cx="1235413" cy="974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315;p46">
            <a:extLst>
              <a:ext uri="{FF2B5EF4-FFF2-40B4-BE49-F238E27FC236}">
                <a16:creationId xmlns:a16="http://schemas.microsoft.com/office/drawing/2014/main" id="{4E690F4C-9FD9-7A23-E7FF-2C583833DFD7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rcRect l="20931" r="20448"/>
          <a:stretch>
            <a:fillRect/>
          </a:stretch>
        </p:blipFill>
        <p:spPr>
          <a:xfrm>
            <a:off x="6061466" y="3543000"/>
            <a:ext cx="1066801" cy="102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798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 dirty="0"/>
              <a:t>Sensors</a:t>
            </a:r>
            <a:endParaRPr dirty="0"/>
          </a:p>
        </p:txBody>
      </p:sp>
      <p:sp>
        <p:nvSpPr>
          <p:cNvPr id="99" name="Google Shape;99;p17"/>
          <p:cNvSpPr txBox="1">
            <a:spLocks noGrp="1"/>
          </p:cNvSpPr>
          <p:nvPr>
            <p:ph type="body" idx="1"/>
          </p:nvPr>
        </p:nvSpPr>
        <p:spPr>
          <a:xfrm>
            <a:off x="2400250" y="1279658"/>
            <a:ext cx="6321600" cy="202437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/>
              <a:t>Digital sensors: </a:t>
            </a:r>
            <a:r>
              <a:rPr lang="en-US" sz="2000" dirty="0"/>
              <a:t>On/off signals (e.g., PIR motion sensor)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/>
              <a:t>Analog sensors: </a:t>
            </a:r>
            <a:r>
              <a:rPr lang="en-US" sz="2000" dirty="0"/>
              <a:t>Range of values (e.g., soil moisture sensor, microphones)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/>
              <a:t>Common sensors: </a:t>
            </a:r>
            <a:r>
              <a:rPr lang="en-US" sz="2000" dirty="0"/>
              <a:t>DHT11 (temp/humidity), CO2, ultrasonic (distance)</a:t>
            </a:r>
            <a:endParaRPr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DE1FCF-73F0-2C58-BFD5-B9E68DA344C4}"/>
              </a:ext>
            </a:extLst>
          </p:cNvPr>
          <p:cNvSpPr txBox="1"/>
          <p:nvPr/>
        </p:nvSpPr>
        <p:spPr>
          <a:xfrm>
            <a:off x="2400250" y="3602232"/>
            <a:ext cx="62073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258220"/>
                </a:solidFill>
              </a:rPr>
              <a:t>We’ll use them to collect environmental data for machine learning.</a:t>
            </a:r>
          </a:p>
        </p:txBody>
      </p:sp>
      <p:pic>
        <p:nvPicPr>
          <p:cNvPr id="2" name="Google Shape;342;p50">
            <a:extLst>
              <a:ext uri="{FF2B5EF4-FFF2-40B4-BE49-F238E27FC236}">
                <a16:creationId xmlns:a16="http://schemas.microsoft.com/office/drawing/2014/main" id="{A7D9AD3D-8B09-8C41-66C6-52C520DDFF8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r="29258"/>
          <a:stretch/>
        </p:blipFill>
        <p:spPr>
          <a:xfrm>
            <a:off x="722027" y="2291845"/>
            <a:ext cx="1327661" cy="1266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344;p50">
            <a:extLst>
              <a:ext uri="{FF2B5EF4-FFF2-40B4-BE49-F238E27FC236}">
                <a16:creationId xmlns:a16="http://schemas.microsoft.com/office/drawing/2014/main" id="{F60DED7A-366A-0A4C-DF17-3BAAC6907796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rcRect l="7609" t="20592" b="16052"/>
          <a:stretch>
            <a:fillRect/>
          </a:stretch>
        </p:blipFill>
        <p:spPr>
          <a:xfrm>
            <a:off x="317930" y="1308222"/>
            <a:ext cx="1371721" cy="9836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76387FF4-B582-3F93-FC44-18658C478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>
            <a:extLst>
              <a:ext uri="{FF2B5EF4-FFF2-40B4-BE49-F238E27FC236}">
                <a16:creationId xmlns:a16="http://schemas.microsoft.com/office/drawing/2014/main" id="{9772FAFF-523A-ADFF-7FB2-60B4C4E878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798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 dirty="0"/>
              <a:t>Breadboard</a:t>
            </a:r>
            <a:endParaRPr dirty="0"/>
          </a:p>
        </p:txBody>
      </p:sp>
      <p:sp>
        <p:nvSpPr>
          <p:cNvPr id="99" name="Google Shape;99;p17">
            <a:extLst>
              <a:ext uri="{FF2B5EF4-FFF2-40B4-BE49-F238E27FC236}">
                <a16:creationId xmlns:a16="http://schemas.microsoft.com/office/drawing/2014/main" id="{DD58A83D-FBEA-7291-2F72-4AA3AD0AE3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815486" y="1418325"/>
            <a:ext cx="5621378" cy="191009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accent4">
                    <a:lumMod val="50000"/>
                  </a:schemeClr>
                </a:solidFill>
              </a:rPr>
              <a:t>Breadboard</a:t>
            </a:r>
            <a:r>
              <a:rPr lang="en-US" sz="2400" dirty="0"/>
              <a:t>: tool for prototyping circuits</a:t>
            </a:r>
          </a:p>
          <a:p>
            <a:pPr marL="342900">
              <a:lnSpc>
                <a:spcPct val="150000"/>
              </a:lnSpc>
            </a:pPr>
            <a:r>
              <a:rPr lang="en-US" sz="2400" dirty="0"/>
              <a:t>Use </a:t>
            </a:r>
            <a:r>
              <a:rPr lang="en-US" sz="2400" b="1" i="1" dirty="0"/>
              <a:t>jumper wires </a:t>
            </a:r>
            <a:r>
              <a:rPr lang="en-US" sz="2400" dirty="0"/>
              <a:t>for connections</a:t>
            </a:r>
          </a:p>
          <a:p>
            <a:pPr marL="342900">
              <a:lnSpc>
                <a:spcPct val="150000"/>
              </a:lnSpc>
            </a:pPr>
            <a:r>
              <a:rPr lang="en-US" sz="2400" dirty="0"/>
              <a:t>Check voltage limits (Pico: 3.3V logic)</a:t>
            </a:r>
            <a:endParaRPr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66F3CB-A6CC-342C-E303-900FAD31BE01}"/>
              </a:ext>
            </a:extLst>
          </p:cNvPr>
          <p:cNvSpPr txBox="1"/>
          <p:nvPr/>
        </p:nvSpPr>
        <p:spPr>
          <a:xfrm>
            <a:off x="2400250" y="3725174"/>
            <a:ext cx="6321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Always double-check your wiring. Mistakes can damage components or give false readings</a:t>
            </a:r>
          </a:p>
        </p:txBody>
      </p:sp>
      <p:pic>
        <p:nvPicPr>
          <p:cNvPr id="5" name="Google Shape;429;p63">
            <a:extLst>
              <a:ext uri="{FF2B5EF4-FFF2-40B4-BE49-F238E27FC236}">
                <a16:creationId xmlns:a16="http://schemas.microsoft.com/office/drawing/2014/main" id="{13F08F0C-27FC-1F27-8695-69770CD179A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6200000">
            <a:off x="-488832" y="1579355"/>
            <a:ext cx="3695774" cy="22806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633717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2D68E730-21DE-5394-AADD-6BF250409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>
            <a:extLst>
              <a:ext uri="{FF2B5EF4-FFF2-40B4-BE49-F238E27FC236}">
                <a16:creationId xmlns:a16="http://schemas.microsoft.com/office/drawing/2014/main" id="{35C56063-A689-FE84-D3F0-D06A848BFD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798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 dirty="0"/>
              <a:t>Jumper Wires</a:t>
            </a:r>
            <a:endParaRPr dirty="0"/>
          </a:p>
        </p:txBody>
      </p:sp>
      <p:sp>
        <p:nvSpPr>
          <p:cNvPr id="99" name="Google Shape;99;p17">
            <a:extLst>
              <a:ext uri="{FF2B5EF4-FFF2-40B4-BE49-F238E27FC236}">
                <a16:creationId xmlns:a16="http://schemas.microsoft.com/office/drawing/2014/main" id="{C20235E3-9661-6FEC-0F7E-DED20F2D9C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750361" y="1987502"/>
            <a:ext cx="5467516" cy="173311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258220"/>
                </a:solidFill>
              </a:rPr>
              <a:t>Types of Jumper Wires: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/>
              <a:t>Male-to-Male: </a:t>
            </a:r>
            <a:r>
              <a:rPr lang="en-US" sz="2400" dirty="0"/>
              <a:t>Pins on both ends.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/>
              <a:t>Male-to-Female: </a:t>
            </a:r>
            <a:r>
              <a:rPr lang="en-US" sz="2400" dirty="0"/>
              <a:t>One pin, one socket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/>
              <a:t>Female-to-Female</a:t>
            </a:r>
            <a:r>
              <a:rPr lang="en-US" sz="2400" dirty="0"/>
              <a:t>: Sockets on both ends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3F9037-B2DD-C814-6DB1-491FD42E1B36}"/>
              </a:ext>
            </a:extLst>
          </p:cNvPr>
          <p:cNvSpPr txBox="1"/>
          <p:nvPr/>
        </p:nvSpPr>
        <p:spPr>
          <a:xfrm>
            <a:off x="2286000" y="3921219"/>
            <a:ext cx="6321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6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Use short wires to reduce clutter, Avoid crossing wires unnecessarily and Check connections before powering up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87947B-ED76-49CB-DF81-C7FFCCAC17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138" y="1422888"/>
            <a:ext cx="2297723" cy="229772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01BE8EB-B2ED-E2D4-47A6-CD40B8440657}"/>
              </a:ext>
            </a:extLst>
          </p:cNvPr>
          <p:cNvSpPr txBox="1"/>
          <p:nvPr/>
        </p:nvSpPr>
        <p:spPr>
          <a:xfrm>
            <a:off x="2750360" y="1225210"/>
            <a:ext cx="59714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flexible, reusable wires used to connect components between a breadboard and a microcontroller</a:t>
            </a:r>
          </a:p>
        </p:txBody>
      </p:sp>
    </p:spTree>
    <p:extLst>
      <p:ext uri="{BB962C8B-B14F-4D97-AF65-F5344CB8AC3E}">
        <p14:creationId xmlns:p14="http://schemas.microsoft.com/office/powerpoint/2010/main" val="37338831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8"/>
          <p:cNvSpPr txBox="1">
            <a:spLocks noGrp="1"/>
          </p:cNvSpPr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en-US" dirty="0" err="1"/>
              <a:t>CircuitPython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US" dirty="0"/>
              <a:t>About Circuit python</a:t>
            </a:r>
            <a:endParaRPr dirty="0"/>
          </a:p>
        </p:txBody>
      </p:sp>
      <p:sp>
        <p:nvSpPr>
          <p:cNvPr id="105" name="Google Shape;105;p18"/>
          <p:cNvSpPr txBox="1">
            <a:spLocks noGrp="1"/>
          </p:cNvSpPr>
          <p:nvPr>
            <p:ph type="body" idx="1"/>
          </p:nvPr>
        </p:nvSpPr>
        <p:spPr>
          <a:xfrm>
            <a:off x="2400250" y="1364128"/>
            <a:ext cx="6321600" cy="22812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indent="0">
              <a:buNone/>
            </a:pPr>
            <a:r>
              <a:rPr lang="en-US" sz="2400" dirty="0"/>
              <a:t>Python for Hardware / microcontrollers</a:t>
            </a:r>
          </a:p>
          <a:p>
            <a:pPr marL="114300" indent="0">
              <a:buNone/>
            </a:pPr>
            <a:endParaRPr lang="en-US" sz="2400" b="1" dirty="0"/>
          </a:p>
          <a:p>
            <a:pPr marL="114300" indent="0">
              <a:buNone/>
            </a:pPr>
            <a:r>
              <a:rPr lang="en-US" sz="2400" b="1" dirty="0"/>
              <a:t>Key libraries :</a:t>
            </a:r>
          </a:p>
          <a:p>
            <a:pPr marL="114300" indent="0">
              <a:buNone/>
            </a:pPr>
            <a:endParaRPr lang="en-US" sz="2400" b="1" dirty="0"/>
          </a:p>
          <a:p>
            <a:r>
              <a:rPr lang="en-US" sz="2400" b="1" i="1" dirty="0" err="1"/>
              <a:t>digitalio</a:t>
            </a:r>
            <a:r>
              <a:rPr lang="en-US" sz="2400" b="1" i="1" dirty="0"/>
              <a:t> -</a:t>
            </a:r>
            <a:r>
              <a:rPr lang="en-US" sz="2400" dirty="0"/>
              <a:t> for buttons/LEDs</a:t>
            </a:r>
          </a:p>
          <a:p>
            <a:r>
              <a:rPr lang="en-US" sz="2400" b="1" i="1" dirty="0" err="1"/>
              <a:t>analogio</a:t>
            </a:r>
            <a:r>
              <a:rPr lang="en-US" sz="2400" b="1" i="1" dirty="0"/>
              <a:t> -</a:t>
            </a:r>
            <a:r>
              <a:rPr lang="en-US" sz="2400" dirty="0"/>
              <a:t> for analog sensors</a:t>
            </a:r>
          </a:p>
          <a:p>
            <a:r>
              <a:rPr lang="en-US" sz="2400" b="1" i="1" dirty="0"/>
              <a:t>time -</a:t>
            </a:r>
            <a:r>
              <a:rPr lang="en-US" sz="2400" dirty="0"/>
              <a:t> for delays</a:t>
            </a:r>
          </a:p>
          <a:p>
            <a:pPr marL="0" indent="0">
              <a:buNone/>
            </a:pPr>
            <a:endParaRPr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03835D-0EA3-7DA2-3B8F-BCE04072AB12}"/>
              </a:ext>
            </a:extLst>
          </p:cNvPr>
          <p:cNvSpPr txBox="1"/>
          <p:nvPr/>
        </p:nvSpPr>
        <p:spPr>
          <a:xfrm>
            <a:off x="2529840" y="3644297"/>
            <a:ext cx="58094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u="sng" dirty="0"/>
              <a:t>Checking Installed </a:t>
            </a:r>
            <a:r>
              <a:rPr lang="en-US" sz="2000" u="sng" dirty="0" err="1"/>
              <a:t>CircuitPython</a:t>
            </a:r>
            <a:r>
              <a:rPr lang="en-US" sz="2000" u="sng" dirty="0"/>
              <a:t> Modules</a:t>
            </a:r>
          </a:p>
          <a:p>
            <a:endParaRPr lang="en-US" sz="1600" dirty="0"/>
          </a:p>
          <a:p>
            <a:r>
              <a:rPr lang="en-US" sz="1800" dirty="0"/>
              <a:t>&gt;&gt; </a:t>
            </a:r>
            <a:r>
              <a:rPr lang="en-US" sz="1800" dirty="0">
                <a:solidFill>
                  <a:schemeClr val="accent6">
                    <a:lumMod val="50000"/>
                  </a:schemeClr>
                </a:solidFill>
              </a:rPr>
              <a:t>help</a:t>
            </a:r>
            <a:r>
              <a:rPr lang="en-US" sz="1800" dirty="0">
                <a:solidFill>
                  <a:schemeClr val="accent4">
                    <a:lumMod val="50000"/>
                  </a:schemeClr>
                </a:solidFill>
              </a:rPr>
              <a:t>("modules")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58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Libraries</a:t>
            </a:r>
            <a:endParaRPr/>
          </a:p>
        </p:txBody>
      </p:sp>
      <p:sp>
        <p:nvSpPr>
          <p:cNvPr id="397" name="Google Shape;397;p58"/>
          <p:cNvSpPr txBox="1">
            <a:spLocks noGrp="1"/>
          </p:cNvSpPr>
          <p:nvPr>
            <p:ph type="body" idx="1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chemeClr val="hlink"/>
                </a:solidFill>
                <a:hlinkClick r:id="rId3"/>
              </a:rPr>
              <a:t>https://circuitpython.org/libraries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398" name="Google Shape;398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82900" y="2130551"/>
            <a:ext cx="4592350" cy="2532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5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Installing</a:t>
            </a:r>
            <a:endParaRPr/>
          </a:p>
        </p:txBody>
      </p:sp>
      <p:sp>
        <p:nvSpPr>
          <p:cNvPr id="305" name="Google Shape;305;p45"/>
          <p:cNvSpPr txBox="1">
            <a:spLocks noGrp="1"/>
          </p:cNvSpPr>
          <p:nvPr>
            <p:ph type="body" idx="1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Download a software called thonny IDE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This will allow you to connect to the device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306" name="Google Shape;306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63750"/>
            <a:ext cx="2105312" cy="2394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4775" y="2718325"/>
            <a:ext cx="4128699" cy="1916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4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Booting</a:t>
            </a:r>
            <a:endParaRPr/>
          </a:p>
        </p:txBody>
      </p:sp>
      <p:sp>
        <p:nvSpPr>
          <p:cNvPr id="232" name="Google Shape;232;p34"/>
          <p:cNvSpPr txBox="1">
            <a:spLocks noGrp="1"/>
          </p:cNvSpPr>
          <p:nvPr>
            <p:ph type="body" idx="1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1111"/>
              <a:buFont typeface="Arial"/>
              <a:buNone/>
            </a:pPr>
            <a:r>
              <a:rPr lang="en-GB" dirty="0"/>
              <a:t>Download Thonny IDE: https://thonny.org/ 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61111"/>
              <a:buFont typeface="Arial"/>
              <a:buNone/>
            </a:pPr>
            <a:r>
              <a:rPr lang="en-GB" dirty="0"/>
              <a:t>Connect the robot via </a:t>
            </a:r>
            <a:r>
              <a:rPr lang="en-GB" dirty="0" err="1"/>
              <a:t>microUSB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61111"/>
              <a:buFont typeface="Arial"/>
              <a:buNone/>
            </a:pPr>
            <a:r>
              <a:rPr lang="en-GB" dirty="0"/>
              <a:t>Connect the device by changing the interpreter in the bottom right corner of the IDE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61111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61111"/>
              <a:buFont typeface="Arial"/>
              <a:buNone/>
            </a:pPr>
            <a:r>
              <a:rPr lang="en-GB" dirty="0"/>
              <a:t>Once connected you can select where you wish to save code.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dirty="0"/>
              <a:t>code.py (</a:t>
            </a:r>
            <a:r>
              <a:rPr lang="en-GB" dirty="0" err="1"/>
              <a:t>CircuitPython</a:t>
            </a:r>
            <a:r>
              <a:rPr lang="en-GB" dirty="0"/>
              <a:t>) will launch on boot</a:t>
            </a:r>
            <a:endParaRPr dirty="0"/>
          </a:p>
        </p:txBody>
      </p:sp>
      <p:pic>
        <p:nvPicPr>
          <p:cNvPr id="233" name="Google Shape;23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288" y="1338462"/>
            <a:ext cx="1897000" cy="72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2290" y="2359213"/>
            <a:ext cx="1720675" cy="159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65047" y="799826"/>
            <a:ext cx="1591900" cy="159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9619E138-58FC-4CEF-6D26-FAFEB8B26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>
            <a:extLst>
              <a:ext uri="{FF2B5EF4-FFF2-40B4-BE49-F238E27FC236}">
                <a16:creationId xmlns:a16="http://schemas.microsoft.com/office/drawing/2014/main" id="{53CB7E9E-35DA-C3D1-4C50-27BC044CFE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487718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US" dirty="0"/>
              <a:t>Getting CPU Temperature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3E720B-30D5-B1B9-071F-423B03A16486}"/>
              </a:ext>
            </a:extLst>
          </p:cNvPr>
          <p:cNvSpPr txBox="1"/>
          <p:nvPr/>
        </p:nvSpPr>
        <p:spPr>
          <a:xfrm>
            <a:off x="2648712" y="1486048"/>
            <a:ext cx="557321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it-IT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import microcontroller</a:t>
            </a:r>
          </a:p>
          <a:p>
            <a:pPr>
              <a:buNone/>
            </a:pPr>
            <a:endParaRPr lang="it-IT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it-IT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temperature = microcontroller.cpu.temperature</a:t>
            </a:r>
          </a:p>
          <a:p>
            <a:pPr>
              <a:buNone/>
            </a:pPr>
            <a:r>
              <a:rPr lang="it-IT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print("CPU Temperature:", temperature)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9A4A11-FE6E-B71C-F91A-BFF7FDA83605}"/>
              </a:ext>
            </a:extLst>
          </p:cNvPr>
          <p:cNvSpPr txBox="1"/>
          <p:nvPr/>
        </p:nvSpPr>
        <p:spPr>
          <a:xfrm>
            <a:off x="2290522" y="2861622"/>
            <a:ext cx="58216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Reads the internal temperature of the Pico’s CPU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Can be logged like any other sensor data</a:t>
            </a:r>
          </a:p>
        </p:txBody>
      </p:sp>
    </p:spTree>
    <p:extLst>
      <p:ext uri="{BB962C8B-B14F-4D97-AF65-F5344CB8AC3E}">
        <p14:creationId xmlns:p14="http://schemas.microsoft.com/office/powerpoint/2010/main" val="27589503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B7DE4DCC-7835-B426-9769-4DBCE7C0E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>
            <a:extLst>
              <a:ext uri="{FF2B5EF4-FFF2-40B4-BE49-F238E27FC236}">
                <a16:creationId xmlns:a16="http://schemas.microsoft.com/office/drawing/2014/main" id="{3625EE78-0FB5-A1F6-AA4C-E8BC04A358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487718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US" dirty="0"/>
              <a:t>Controlling an LED with </a:t>
            </a:r>
            <a:r>
              <a:rPr lang="en-US" dirty="0" err="1"/>
              <a:t>CircuitPython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5244EF-39B1-B138-998D-AAE04BC8294D}"/>
              </a:ext>
            </a:extLst>
          </p:cNvPr>
          <p:cNvSpPr txBox="1"/>
          <p:nvPr/>
        </p:nvSpPr>
        <p:spPr>
          <a:xfrm>
            <a:off x="4177679" y="1417588"/>
            <a:ext cx="449083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import board</a:t>
            </a:r>
          </a:p>
          <a:p>
            <a:pPr>
              <a:buNone/>
            </a:pPr>
            <a:r>
              <a:rPr lang="en-US" sz="12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import </a:t>
            </a:r>
            <a:r>
              <a:rPr lang="en-US" sz="1200" b="1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digitalio</a:t>
            </a:r>
            <a:endParaRPr lang="en-US" sz="1200" b="1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12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import time</a:t>
            </a:r>
          </a:p>
          <a:p>
            <a:pPr>
              <a:buNone/>
            </a:pPr>
            <a:endParaRPr lang="en-US" sz="1200" b="1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12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led = </a:t>
            </a:r>
            <a:r>
              <a:rPr lang="en-US" sz="1200" b="1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digitalio.DigitalInOut</a:t>
            </a:r>
            <a:r>
              <a:rPr lang="en-US" sz="12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(board.GP28)</a:t>
            </a:r>
          </a:p>
          <a:p>
            <a:pPr>
              <a:buNone/>
            </a:pPr>
            <a:r>
              <a:rPr lang="en-US" sz="1200" b="1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led.direction</a:t>
            </a:r>
            <a:r>
              <a:rPr lang="en-US" sz="12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 = </a:t>
            </a:r>
            <a:r>
              <a:rPr lang="en-US" sz="1200" b="1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digitalio.Direction.OUTPUT</a:t>
            </a:r>
            <a:endParaRPr lang="en-US" sz="1200" b="1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endParaRPr lang="en-US" sz="1200" b="1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12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while True:</a:t>
            </a:r>
          </a:p>
          <a:p>
            <a:pPr>
              <a:buNone/>
            </a:pPr>
            <a:r>
              <a:rPr lang="en-US" sz="12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    </a:t>
            </a:r>
            <a:r>
              <a:rPr lang="en-US" sz="1200" b="1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led.value</a:t>
            </a:r>
            <a:r>
              <a:rPr lang="en-US" sz="12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 = True   # LED ON</a:t>
            </a:r>
          </a:p>
          <a:p>
            <a:pPr>
              <a:buNone/>
            </a:pPr>
            <a:r>
              <a:rPr lang="en-US" sz="12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    </a:t>
            </a:r>
            <a:r>
              <a:rPr lang="en-US" sz="1200" b="1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time.sleep</a:t>
            </a:r>
            <a:r>
              <a:rPr lang="en-US" sz="12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(1)</a:t>
            </a:r>
          </a:p>
          <a:p>
            <a:pPr>
              <a:buNone/>
            </a:pPr>
            <a:r>
              <a:rPr lang="en-US" sz="12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    </a:t>
            </a:r>
            <a:r>
              <a:rPr lang="en-US" sz="1200" b="1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led.value</a:t>
            </a:r>
            <a:r>
              <a:rPr lang="en-US" sz="12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 = False  # LED OFF</a:t>
            </a:r>
          </a:p>
          <a:p>
            <a:pPr>
              <a:buNone/>
            </a:pPr>
            <a:r>
              <a:rPr lang="en-US" sz="12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    </a:t>
            </a:r>
            <a:r>
              <a:rPr lang="en-US" sz="1200" b="1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time.sleep</a:t>
            </a:r>
            <a:r>
              <a:rPr lang="en-US" sz="12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(1)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01DBD7-AD3A-B39F-79FA-E4EE5B453E0D}"/>
              </a:ext>
            </a:extLst>
          </p:cNvPr>
          <p:cNvSpPr txBox="1"/>
          <p:nvPr/>
        </p:nvSpPr>
        <p:spPr>
          <a:xfrm>
            <a:off x="2400250" y="4288086"/>
            <a:ext cx="58216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Turns an LED on and off every second</a:t>
            </a:r>
          </a:p>
        </p:txBody>
      </p:sp>
      <p:pic>
        <p:nvPicPr>
          <p:cNvPr id="9" name="Google Shape;437;p64">
            <a:extLst>
              <a:ext uri="{FF2B5EF4-FFF2-40B4-BE49-F238E27FC236}">
                <a16:creationId xmlns:a16="http://schemas.microsoft.com/office/drawing/2014/main" id="{1E96A64E-72B0-5C67-5943-50AEAADFF4F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2820" y="2168800"/>
            <a:ext cx="3321978" cy="18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436;p64">
            <a:extLst>
              <a:ext uri="{FF2B5EF4-FFF2-40B4-BE49-F238E27FC236}">
                <a16:creationId xmlns:a16="http://schemas.microsoft.com/office/drawing/2014/main" id="{A79CF22D-88CC-68B7-DB2F-810C26CA0FE4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73017" y="1449907"/>
            <a:ext cx="1654465" cy="11663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90B4BC1-4D5C-5A99-CCD8-D5183336D706}"/>
              </a:ext>
            </a:extLst>
          </p:cNvPr>
          <p:cNvSpPr txBox="1"/>
          <p:nvPr/>
        </p:nvSpPr>
        <p:spPr>
          <a:xfrm>
            <a:off x="6919649" y="1417588"/>
            <a:ext cx="17488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b="1" dirty="0">
                <a:solidFill>
                  <a:schemeClr val="accent6">
                    <a:lumMod val="50000"/>
                  </a:schemeClr>
                </a:solidFill>
                <a:highlight>
                  <a:srgbClr val="FFFF00"/>
                </a:highlight>
              </a:rPr>
              <a:t>Digital output</a:t>
            </a:r>
            <a:endParaRPr lang="en-US" sz="1600" b="1" dirty="0">
              <a:solidFill>
                <a:schemeClr val="accent6">
                  <a:lumMod val="50000"/>
                </a:schemeClr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8003400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9BE643C2-3BD6-C303-08EA-0F09E222E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>
            <a:extLst>
              <a:ext uri="{FF2B5EF4-FFF2-40B4-BE49-F238E27FC236}">
                <a16:creationId xmlns:a16="http://schemas.microsoft.com/office/drawing/2014/main" id="{16C92049-0056-1621-DC4E-E3BCB6248B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487718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US" dirty="0"/>
              <a:t>Detecting Button Presses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28C4F5-7CE1-D394-2ADF-15703F1B2F51}"/>
              </a:ext>
            </a:extLst>
          </p:cNvPr>
          <p:cNvSpPr txBox="1"/>
          <p:nvPr/>
        </p:nvSpPr>
        <p:spPr>
          <a:xfrm>
            <a:off x="2833612" y="1388512"/>
            <a:ext cx="498146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import board</a:t>
            </a:r>
          </a:p>
          <a:p>
            <a:pPr>
              <a:buNone/>
            </a:pPr>
            <a:r>
              <a:rPr lang="en-US" sz="12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import </a:t>
            </a:r>
            <a:r>
              <a:rPr lang="en-US" sz="1200" b="1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digitalio</a:t>
            </a:r>
            <a:endParaRPr lang="en-US" sz="1200" b="1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endParaRPr lang="en-US" sz="1200" b="1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12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button = </a:t>
            </a:r>
            <a:r>
              <a:rPr lang="en-US" sz="1200" b="1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digitalio.DigitalInOut</a:t>
            </a:r>
            <a:r>
              <a:rPr lang="en-US" sz="12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(board.GP18)</a:t>
            </a:r>
          </a:p>
          <a:p>
            <a:pPr>
              <a:buNone/>
            </a:pPr>
            <a:r>
              <a:rPr lang="en-US" sz="1200" b="1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button.direction</a:t>
            </a:r>
            <a:r>
              <a:rPr lang="en-US" sz="12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 = </a:t>
            </a:r>
            <a:r>
              <a:rPr lang="en-US" sz="1200" b="1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digitalio.Direction.INPUT</a:t>
            </a:r>
            <a:endParaRPr lang="en-US" sz="1200" b="1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1200" b="1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button.pull</a:t>
            </a:r>
            <a:r>
              <a:rPr lang="en-US" sz="12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 = </a:t>
            </a:r>
            <a:r>
              <a:rPr lang="en-US" sz="1200" b="1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digitalio.Pull.UP</a:t>
            </a:r>
            <a:endParaRPr lang="en-US" sz="1200" b="1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endParaRPr lang="en-US" sz="1200" b="1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12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while True:</a:t>
            </a:r>
          </a:p>
          <a:p>
            <a:pPr>
              <a:buNone/>
            </a:pPr>
            <a:r>
              <a:rPr lang="en-US" sz="12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    if not </a:t>
            </a:r>
            <a:r>
              <a:rPr lang="en-US" sz="1200" b="1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button.value</a:t>
            </a:r>
            <a:r>
              <a:rPr lang="en-US" sz="12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:</a:t>
            </a:r>
          </a:p>
          <a:p>
            <a:pPr>
              <a:buNone/>
            </a:pPr>
            <a:r>
              <a:rPr lang="en-US" sz="120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        print("Button pressed!")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8CB799-8107-8938-F822-89FE467B5B62}"/>
              </a:ext>
            </a:extLst>
          </p:cNvPr>
          <p:cNvSpPr txBox="1"/>
          <p:nvPr/>
        </p:nvSpPr>
        <p:spPr>
          <a:xfrm>
            <a:off x="2394700" y="4016650"/>
            <a:ext cx="62372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Detects when a button connected to </a:t>
            </a:r>
            <a:r>
              <a:rPr lang="en-US" i="1" dirty="0"/>
              <a:t>GP18</a:t>
            </a:r>
            <a:r>
              <a:rPr lang="en-US" sz="1800" dirty="0"/>
              <a:t> is pressed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Can be extended to trigger LEDs or log events</a:t>
            </a:r>
          </a:p>
        </p:txBody>
      </p:sp>
      <p:pic>
        <p:nvPicPr>
          <p:cNvPr id="2" name="Google Shape;459;p67">
            <a:extLst>
              <a:ext uri="{FF2B5EF4-FFF2-40B4-BE49-F238E27FC236}">
                <a16:creationId xmlns:a16="http://schemas.microsoft.com/office/drawing/2014/main" id="{7F54A258-4B1F-988A-E248-B823186F6B7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392" y="1153887"/>
            <a:ext cx="2105312" cy="283572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1C1D96E-DAB9-63E6-5A3F-D9C83BBB6CFF}"/>
              </a:ext>
            </a:extLst>
          </p:cNvPr>
          <p:cNvSpPr txBox="1"/>
          <p:nvPr/>
        </p:nvSpPr>
        <p:spPr>
          <a:xfrm>
            <a:off x="6919649" y="1417588"/>
            <a:ext cx="17488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b="1" dirty="0">
                <a:solidFill>
                  <a:schemeClr val="accent6">
                    <a:lumMod val="50000"/>
                  </a:schemeClr>
                </a:solidFill>
                <a:highlight>
                  <a:srgbClr val="FFFF00"/>
                </a:highlight>
              </a:rPr>
              <a:t>Digital input</a:t>
            </a:r>
            <a:endParaRPr lang="en-US" sz="1600" b="1" dirty="0">
              <a:solidFill>
                <a:schemeClr val="accent6">
                  <a:lumMod val="50000"/>
                </a:schemeClr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4773345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2848FD32-7E95-694B-A292-87BE1DCEC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>
            <a:extLst>
              <a:ext uri="{FF2B5EF4-FFF2-40B4-BE49-F238E27FC236}">
                <a16:creationId xmlns:a16="http://schemas.microsoft.com/office/drawing/2014/main" id="{3EF145C9-6EF2-D30F-61C4-984C69CA84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000038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US" dirty="0"/>
              <a:t>Temperature &amp; Humidity Sensor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5CC293-940F-C48F-B4D7-720714B0924F}"/>
              </a:ext>
            </a:extLst>
          </p:cNvPr>
          <p:cNvSpPr txBox="1"/>
          <p:nvPr/>
        </p:nvSpPr>
        <p:spPr>
          <a:xfrm>
            <a:off x="3040876" y="1423102"/>
            <a:ext cx="5591060" cy="23544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05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import board</a:t>
            </a:r>
          </a:p>
          <a:p>
            <a:pPr>
              <a:buNone/>
            </a:pPr>
            <a:r>
              <a:rPr lang="en-US" sz="105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import </a:t>
            </a:r>
            <a:r>
              <a:rPr lang="en-US" sz="1050" b="1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adafruit_dht</a:t>
            </a:r>
            <a:endParaRPr lang="en-US" sz="1050" b="1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105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import time</a:t>
            </a:r>
          </a:p>
          <a:p>
            <a:pPr>
              <a:buNone/>
            </a:pPr>
            <a:endParaRPr lang="en-US" sz="1050" b="1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1050" b="1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dht_device</a:t>
            </a:r>
            <a:r>
              <a:rPr lang="en-US" sz="105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 = adafruit_dht.DHT11(board.GP15)</a:t>
            </a:r>
          </a:p>
          <a:p>
            <a:pPr>
              <a:buNone/>
            </a:pPr>
            <a:endParaRPr lang="en-US" sz="1050" b="1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105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while True:</a:t>
            </a:r>
          </a:p>
          <a:p>
            <a:pPr>
              <a:buNone/>
            </a:pPr>
            <a:r>
              <a:rPr lang="en-US" sz="105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    try:</a:t>
            </a:r>
          </a:p>
          <a:p>
            <a:pPr>
              <a:buNone/>
            </a:pPr>
            <a:r>
              <a:rPr lang="en-US" sz="105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        temperature = </a:t>
            </a:r>
            <a:r>
              <a:rPr lang="en-US" sz="1050" b="1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dht_device.temperature</a:t>
            </a:r>
            <a:endParaRPr lang="en-US" sz="1050" b="1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105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        humidity = </a:t>
            </a:r>
            <a:r>
              <a:rPr lang="en-US" sz="1050" b="1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dht_device.humidity</a:t>
            </a:r>
            <a:endParaRPr lang="en-US" sz="1050" b="1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105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        print(</a:t>
            </a:r>
            <a:r>
              <a:rPr lang="en-US" sz="1050" b="1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f"Temp</a:t>
            </a:r>
            <a:r>
              <a:rPr lang="en-US" sz="105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: {temperature}°C  Humidity: {humidity}%")</a:t>
            </a:r>
          </a:p>
          <a:p>
            <a:pPr>
              <a:buNone/>
            </a:pPr>
            <a:r>
              <a:rPr lang="en-US" sz="105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    except </a:t>
            </a:r>
            <a:r>
              <a:rPr lang="en-US" sz="1050" b="1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RuntimeError</a:t>
            </a:r>
            <a:r>
              <a:rPr lang="en-US" sz="105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 as error:</a:t>
            </a:r>
          </a:p>
          <a:p>
            <a:pPr>
              <a:buNone/>
            </a:pPr>
            <a:r>
              <a:rPr lang="en-US" sz="105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        print(</a:t>
            </a:r>
            <a:r>
              <a:rPr lang="en-US" sz="1050" b="1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error.args</a:t>
            </a:r>
            <a:r>
              <a:rPr lang="en-US" sz="105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[0])</a:t>
            </a:r>
          </a:p>
          <a:p>
            <a:pPr>
              <a:buNone/>
            </a:pPr>
            <a:r>
              <a:rPr lang="en-US" sz="105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    </a:t>
            </a:r>
            <a:r>
              <a:rPr lang="en-US" sz="1050" b="1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time.sleep</a:t>
            </a:r>
            <a:r>
              <a:rPr lang="en-US" sz="105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(2)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183F13-B97B-5F3F-7A2A-51EBF1953666}"/>
              </a:ext>
            </a:extLst>
          </p:cNvPr>
          <p:cNvSpPr txBox="1"/>
          <p:nvPr/>
        </p:nvSpPr>
        <p:spPr>
          <a:xfrm>
            <a:off x="2394700" y="4016650"/>
            <a:ext cx="62372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Uses the </a:t>
            </a:r>
            <a:r>
              <a:rPr lang="en-US" sz="1800" b="1" i="1" dirty="0" err="1"/>
              <a:t>adafruit_dht</a:t>
            </a:r>
            <a:r>
              <a:rPr lang="en-US" sz="1800" b="1" i="1" dirty="0"/>
              <a:t> </a:t>
            </a:r>
            <a:r>
              <a:rPr lang="en-US" sz="1800" dirty="0"/>
              <a:t>library.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Reads temperature and humidity every 2 seconds</a:t>
            </a:r>
          </a:p>
        </p:txBody>
      </p:sp>
      <p:pic>
        <p:nvPicPr>
          <p:cNvPr id="3" name="Google Shape;499;p72">
            <a:extLst>
              <a:ext uri="{FF2B5EF4-FFF2-40B4-BE49-F238E27FC236}">
                <a16:creationId xmlns:a16="http://schemas.microsoft.com/office/drawing/2014/main" id="{A6668198-844B-61AB-237F-8043AE2B384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626" y="1339660"/>
            <a:ext cx="2105313" cy="25486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09637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CAD5ED4A-638B-2867-5FA7-02F9DCCE6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>
            <a:extLst>
              <a:ext uri="{FF2B5EF4-FFF2-40B4-BE49-F238E27FC236}">
                <a16:creationId xmlns:a16="http://schemas.microsoft.com/office/drawing/2014/main" id="{05772F7F-5503-A34A-1335-1B4A2A391A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000038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US" dirty="0"/>
              <a:t>Soil Moisture Sensor (Analog)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F22375-4716-A9A5-3BEE-4904BA7FE478}"/>
              </a:ext>
            </a:extLst>
          </p:cNvPr>
          <p:cNvSpPr txBox="1"/>
          <p:nvPr/>
        </p:nvSpPr>
        <p:spPr>
          <a:xfrm>
            <a:off x="4370772" y="1475296"/>
            <a:ext cx="4652276" cy="2192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05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import board</a:t>
            </a:r>
          </a:p>
          <a:p>
            <a:pPr>
              <a:buNone/>
            </a:pPr>
            <a:r>
              <a:rPr lang="en-US" sz="105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import </a:t>
            </a:r>
            <a:r>
              <a:rPr lang="en-US" sz="1050" b="1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analogio</a:t>
            </a:r>
            <a:endParaRPr lang="en-US" sz="1050" b="1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105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import time</a:t>
            </a:r>
          </a:p>
          <a:p>
            <a:pPr>
              <a:buNone/>
            </a:pPr>
            <a:endParaRPr lang="en-US" sz="1050" b="1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105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moisture = </a:t>
            </a:r>
            <a:r>
              <a:rPr lang="en-US" sz="1050" b="1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analogio.AnalogIn</a:t>
            </a:r>
            <a:r>
              <a:rPr lang="en-US" sz="105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(board.A0)</a:t>
            </a:r>
          </a:p>
          <a:p>
            <a:pPr>
              <a:buNone/>
            </a:pPr>
            <a:endParaRPr lang="en-US" sz="1050" b="1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105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def </a:t>
            </a:r>
            <a:r>
              <a:rPr lang="en-US" sz="1050" b="1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get_voltage</a:t>
            </a:r>
            <a:r>
              <a:rPr lang="en-US" sz="105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(pin):</a:t>
            </a:r>
          </a:p>
          <a:p>
            <a:pPr>
              <a:buNone/>
            </a:pPr>
            <a:r>
              <a:rPr lang="en-US" sz="105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    return (</a:t>
            </a:r>
            <a:r>
              <a:rPr lang="en-US" sz="1050" b="1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pin.value</a:t>
            </a:r>
            <a:r>
              <a:rPr lang="en-US" sz="105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 * 3.3) / 65536</a:t>
            </a:r>
          </a:p>
          <a:p>
            <a:pPr>
              <a:buNone/>
            </a:pPr>
            <a:endParaRPr lang="en-US" sz="1050" b="1" dirty="0">
              <a:solidFill>
                <a:schemeClr val="accent4">
                  <a:lumMod val="50000"/>
                </a:schemeClr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105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while True:</a:t>
            </a:r>
          </a:p>
          <a:p>
            <a:pPr>
              <a:buNone/>
            </a:pPr>
            <a:r>
              <a:rPr lang="en-US" sz="105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    voltage = </a:t>
            </a:r>
            <a:r>
              <a:rPr lang="en-US" sz="1050" b="1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get_voltage</a:t>
            </a:r>
            <a:r>
              <a:rPr lang="en-US" sz="105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(moisture)</a:t>
            </a:r>
          </a:p>
          <a:p>
            <a:pPr>
              <a:buNone/>
            </a:pPr>
            <a:r>
              <a:rPr lang="en-US" sz="105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    print("Soil moisture voltage:", voltage)</a:t>
            </a:r>
          </a:p>
          <a:p>
            <a:pPr>
              <a:buNone/>
            </a:pPr>
            <a:r>
              <a:rPr lang="en-US" sz="105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    </a:t>
            </a:r>
            <a:r>
              <a:rPr lang="en-US" sz="1050" b="1" dirty="0" err="1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time.sleep</a:t>
            </a:r>
            <a:r>
              <a:rPr lang="en-US" sz="1050" b="1" dirty="0">
                <a:solidFill>
                  <a:schemeClr val="accent4">
                    <a:lumMod val="50000"/>
                  </a:schemeClr>
                </a:solidFill>
                <a:latin typeface="Courier New" panose="02070309020205020404" pitchFamily="49" charset="0"/>
              </a:rPr>
              <a:t>(1)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0AE12C-E6CA-2E8C-9560-81601A911C49}"/>
              </a:ext>
            </a:extLst>
          </p:cNvPr>
          <p:cNvSpPr txBox="1"/>
          <p:nvPr/>
        </p:nvSpPr>
        <p:spPr>
          <a:xfrm>
            <a:off x="2394700" y="4016650"/>
            <a:ext cx="62372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Reads analog voltage from a soil moisture sensor.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Higher voltage </a:t>
            </a:r>
            <a:r>
              <a:rPr lang="en-US" sz="1800" dirty="0"/>
              <a:t>= drier soil; </a:t>
            </a:r>
            <a:r>
              <a:rPr lang="en-US" sz="1800" b="1" dirty="0"/>
              <a:t>lower voltage </a:t>
            </a:r>
            <a:r>
              <a:rPr lang="en-US" sz="1800" dirty="0"/>
              <a:t>= wetter soil</a:t>
            </a:r>
          </a:p>
        </p:txBody>
      </p:sp>
      <p:pic>
        <p:nvPicPr>
          <p:cNvPr id="2" name="Google Shape;491;p71">
            <a:extLst>
              <a:ext uri="{FF2B5EF4-FFF2-40B4-BE49-F238E27FC236}">
                <a16:creationId xmlns:a16="http://schemas.microsoft.com/office/drawing/2014/main" id="{45105F4D-028E-6600-38C4-F40A34FCB5B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1362" y="1683424"/>
            <a:ext cx="3326675" cy="20029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210685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50"/>
          <p:cNvSpPr txBox="1">
            <a:spLocks noGrp="1"/>
          </p:cNvSpPr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Labs</a:t>
            </a:r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86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Tasks</a:t>
            </a:r>
            <a:endParaRPr/>
          </a:p>
        </p:txBody>
      </p:sp>
      <p:sp>
        <p:nvSpPr>
          <p:cNvPr id="592" name="Google Shape;592;p86"/>
          <p:cNvSpPr txBox="1">
            <a:spLocks noGrp="1"/>
          </p:cNvSpPr>
          <p:nvPr>
            <p:ph type="body" idx="1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Get an LED blinking on and off with intervals of 1 second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Place in a button so the LED only lights up when the button is pressed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Now have it so the button toggles on and off the light instead of holding it down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87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Make a game</a:t>
            </a:r>
            <a:endParaRPr/>
          </a:p>
        </p:txBody>
      </p:sp>
      <p:sp>
        <p:nvSpPr>
          <p:cNvPr id="598" name="Google Shape;598;p87"/>
          <p:cNvSpPr txBox="1">
            <a:spLocks noGrp="1"/>
          </p:cNvSpPr>
          <p:nvPr>
            <p:ph type="body" idx="1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game should have three buttons and 3 LEDs, plus a green and red LED.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The game will flash the LEDs in a different random order, then wait for the user to press the buttons in that order. As soon as a mistake is made the red LED blinks and the game restarts. If the user enters the correct sequence the green LED blinks and another random sequence will play.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EXTENSION: have the sequences get longer and longer as the game goes on</a:t>
            </a:r>
            <a:endParaRPr b="1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b="1"/>
              <a:t>Further EXTENSION: Use other sensors for your game rather than just buttons</a:t>
            </a:r>
            <a:endParaRPr b="1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US" dirty="0"/>
              <a:t>Wrap-Up &amp; Preview of Day 2</a:t>
            </a:r>
            <a:endParaRPr dirty="0"/>
          </a:p>
        </p:txBody>
      </p:sp>
      <p:sp>
        <p:nvSpPr>
          <p:cNvPr id="111" name="Google Shape;111;p19"/>
          <p:cNvSpPr txBox="1">
            <a:spLocks noGrp="1"/>
          </p:cNvSpPr>
          <p:nvPr>
            <p:ph type="body" idx="1"/>
          </p:nvPr>
        </p:nvSpPr>
        <p:spPr>
          <a:xfrm>
            <a:off x="2410112" y="1595776"/>
            <a:ext cx="6321600" cy="18789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dirty="0"/>
              <a:t>Tomorrow</a:t>
            </a:r>
            <a:r>
              <a:rPr lang="en-US" sz="2400" dirty="0"/>
              <a:t>: Electronics &amp; sensor basics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dirty="0"/>
              <a:t>Lab</a:t>
            </a:r>
            <a:r>
              <a:rPr lang="en-US" sz="2400" dirty="0"/>
              <a:t>: Build a memory game with buttons and LEDs</a:t>
            </a:r>
            <a:endParaRPr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BED6B9-9F21-9AB1-1A1E-5142E6FF9AA4}"/>
              </a:ext>
            </a:extLst>
          </p:cNvPr>
          <p:cNvSpPr txBox="1"/>
          <p:nvPr/>
        </p:nvSpPr>
        <p:spPr>
          <a:xfrm>
            <a:off x="2410112" y="3761750"/>
            <a:ext cx="6321600" cy="872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258220"/>
                </a:solidFill>
              </a:rPr>
              <a:t>Great start today! Tomorrow, we dive into hardware and sensors get ready to build.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55"/>
          <p:cNvSpPr txBox="1">
            <a:spLocks noGrp="1"/>
          </p:cNvSpPr>
          <p:nvPr>
            <p:ph type="body" idx="1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Time table</a:t>
            </a:r>
            <a:endParaRPr/>
          </a:p>
        </p:txBody>
      </p:sp>
      <p:graphicFrame>
        <p:nvGraphicFramePr>
          <p:cNvPr id="2" name="Google Shape;384;p55">
            <a:extLst>
              <a:ext uri="{FF2B5EF4-FFF2-40B4-BE49-F238E27FC236}">
                <a16:creationId xmlns:a16="http://schemas.microsoft.com/office/drawing/2014/main" id="{7F682C8C-6334-9897-116A-070F11B99B4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58737666"/>
              </p:ext>
            </p:extLst>
          </p:nvPr>
        </p:nvGraphicFramePr>
        <p:xfrm>
          <a:off x="156263" y="1122525"/>
          <a:ext cx="8831475" cy="265319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9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7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6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6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6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6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571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571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223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761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761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761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408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663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dirty="0">
                          <a:solidFill>
                            <a:schemeClr val="bg1"/>
                          </a:solidFill>
                        </a:rPr>
                        <a:t>Timetable</a:t>
                      </a:r>
                      <a:endParaRPr sz="1000" dirty="0">
                        <a:solidFill>
                          <a:schemeClr val="bg1"/>
                        </a:solidFill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5822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bg1"/>
                          </a:solidFill>
                        </a:rPr>
                        <a:t>Mon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5822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bg1"/>
                          </a:solidFill>
                        </a:rPr>
                        <a:t>Tue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5822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bg1"/>
                          </a:solidFill>
                        </a:rPr>
                        <a:t>Wed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5822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bg1"/>
                          </a:solidFill>
                        </a:rPr>
                        <a:t>Thu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5822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bg1"/>
                          </a:solidFill>
                        </a:rPr>
                        <a:t>Fri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5822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bg1"/>
                          </a:solidFill>
                        </a:rPr>
                        <a:t>Sat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5822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bg1"/>
                          </a:solidFill>
                        </a:rPr>
                        <a:t>Sun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5822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bg1"/>
                          </a:solidFill>
                        </a:rPr>
                        <a:t>Mon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5822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bg1"/>
                          </a:solidFill>
                        </a:rPr>
                        <a:t>Tue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5822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bg1"/>
                          </a:solidFill>
                        </a:rPr>
                        <a:t>Wed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5822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>
                          <a:solidFill>
                            <a:schemeClr val="bg1"/>
                          </a:solidFill>
                        </a:rPr>
                        <a:t>Thu</a:t>
                      </a:r>
                      <a:endParaRPr sz="1000">
                        <a:solidFill>
                          <a:schemeClr val="bg1"/>
                        </a:solidFill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5822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dirty="0">
                          <a:solidFill>
                            <a:schemeClr val="bg1"/>
                          </a:solidFill>
                        </a:rPr>
                        <a:t>Fri</a:t>
                      </a:r>
                      <a:endParaRPr sz="1000" dirty="0">
                        <a:solidFill>
                          <a:schemeClr val="bg1"/>
                        </a:solidFill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58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567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dirty="0">
                          <a:solidFill>
                            <a:schemeClr val="bg1"/>
                          </a:solidFill>
                        </a:rPr>
                        <a:t>Lecture (1.5 hours)</a:t>
                      </a:r>
                      <a:endParaRPr sz="1000" dirty="0">
                        <a:solidFill>
                          <a:schemeClr val="bg1"/>
                        </a:solidFill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>
                          <a:solidFill>
                            <a:schemeClr val="bg2"/>
                          </a:solidFill>
                        </a:rPr>
                        <a:t>11:00am</a:t>
                      </a:r>
                      <a:endParaRPr dirty="0">
                        <a:solidFill>
                          <a:schemeClr val="bg2"/>
                        </a:solidFill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-GB" dirty="0">
                          <a:solidFill>
                            <a:schemeClr val="dk2"/>
                          </a:solidFill>
                        </a:rPr>
                        <a:t>10:30am</a:t>
                      </a:r>
                      <a:endParaRPr dirty="0">
                        <a:solidFill>
                          <a:schemeClr val="dk2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endParaRPr dirty="0">
                        <a:solidFill>
                          <a:schemeClr val="dk2"/>
                        </a:solidFill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2"/>
                          </a:solidFill>
                        </a:rPr>
                        <a:t>10:30am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2"/>
                          </a:solidFill>
                        </a:rPr>
                        <a:t>10:30am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2"/>
                          </a:solidFill>
                        </a:rPr>
                        <a:t>10:30am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5822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5822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2"/>
                          </a:solidFill>
                        </a:rPr>
                        <a:t>10:30am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2"/>
                          </a:solidFill>
                        </a:rPr>
                        <a:t>10:30am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2"/>
                          </a:solidFill>
                        </a:rPr>
                        <a:t>10:30am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2"/>
                          </a:solidFill>
                        </a:rPr>
                        <a:t>10:30am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-GB" dirty="0">
                          <a:solidFill>
                            <a:schemeClr val="dk2"/>
                          </a:solidFill>
                        </a:rPr>
                        <a:t>10:30am</a:t>
                      </a:r>
                      <a:endParaRPr dirty="0">
                        <a:solidFill>
                          <a:schemeClr val="dk2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endParaRPr dirty="0">
                        <a:solidFill>
                          <a:schemeClr val="dk2"/>
                        </a:solidFill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27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dirty="0">
                          <a:solidFill>
                            <a:schemeClr val="bg1"/>
                          </a:solidFill>
                        </a:rPr>
                        <a:t>Practical (2 hours)</a:t>
                      </a:r>
                      <a:endParaRPr sz="1000" dirty="0">
                        <a:solidFill>
                          <a:schemeClr val="bg1"/>
                        </a:solidFill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>
                          <a:solidFill>
                            <a:schemeClr val="bg2"/>
                          </a:solidFill>
                        </a:rPr>
                        <a:t>13:00pm</a:t>
                      </a:r>
                      <a:endParaRPr dirty="0">
                        <a:solidFill>
                          <a:schemeClr val="bg2"/>
                        </a:solidFill>
                      </a:endParaRPr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-GB" dirty="0">
                          <a:solidFill>
                            <a:schemeClr val="dk2"/>
                          </a:solidFill>
                        </a:rPr>
                        <a:t>13:00pm</a:t>
                      </a:r>
                      <a:endParaRPr dirty="0"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2"/>
                          </a:solidFill>
                        </a:rPr>
                        <a:t>13:00pm</a:t>
                      </a: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2"/>
                          </a:solidFill>
                        </a:rPr>
                        <a:t>13:00pm</a:t>
                      </a: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2"/>
                          </a:solidFill>
                        </a:rPr>
                        <a:t>13:00pm</a:t>
                      </a: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5822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5822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2"/>
                          </a:solidFill>
                        </a:rPr>
                        <a:t>13:00pm</a:t>
                      </a: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2"/>
                          </a:solidFill>
                        </a:rPr>
                        <a:t>13:00pm</a:t>
                      </a: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2"/>
                          </a:solidFill>
                        </a:rPr>
                        <a:t>13:00pm</a:t>
                      </a: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2"/>
                          </a:solidFill>
                        </a:rPr>
                        <a:t>13:00pm</a:t>
                      </a:r>
                      <a:endParaRPr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en-GB" dirty="0">
                          <a:solidFill>
                            <a:schemeClr val="dk2"/>
                          </a:solidFill>
                        </a:rPr>
                        <a:t>13:00pm</a:t>
                      </a:r>
                      <a:endParaRPr dirty="0"/>
                    </a:p>
                  </a:txBody>
                  <a:tcPr marL="28575" marR="28575" marT="19050" marB="19050" anchor="b">
                    <a:lnL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</TotalTime>
  <Words>1014</Words>
  <Application>Microsoft Office PowerPoint</Application>
  <PresentationFormat>On-screen Show (16:9)</PresentationFormat>
  <Paragraphs>197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Raleway</vt:lpstr>
      <vt:lpstr>Courier New</vt:lpstr>
      <vt:lpstr>Arial</vt:lpstr>
      <vt:lpstr>Lato</vt:lpstr>
      <vt:lpstr>Swiss</vt:lpstr>
      <vt:lpstr>Electronics &amp; Python</vt:lpstr>
      <vt:lpstr>What Is a Microcontroller?</vt:lpstr>
      <vt:lpstr>Laptop  vs Microcontroller</vt:lpstr>
      <vt:lpstr>Raspberry Pi Pico Overview</vt:lpstr>
      <vt:lpstr>Pico pinout</vt:lpstr>
      <vt:lpstr>Arduino Overview</vt:lpstr>
      <vt:lpstr>Components  Basics</vt:lpstr>
      <vt:lpstr>Input vs Output Devices</vt:lpstr>
      <vt:lpstr>Sensors</vt:lpstr>
      <vt:lpstr>Breadboard</vt:lpstr>
      <vt:lpstr>Jumper Wires</vt:lpstr>
      <vt:lpstr>CircuitPython</vt:lpstr>
      <vt:lpstr>About Circuit python</vt:lpstr>
      <vt:lpstr>Libraries</vt:lpstr>
      <vt:lpstr>Installing</vt:lpstr>
      <vt:lpstr>Booting</vt:lpstr>
      <vt:lpstr>Getting CPU Temperature</vt:lpstr>
      <vt:lpstr>Controlling an LED with CircuitPython</vt:lpstr>
      <vt:lpstr>Detecting Button Presses</vt:lpstr>
      <vt:lpstr>Temperature &amp; Humidity Sensor</vt:lpstr>
      <vt:lpstr>Soil Moisture Sensor (Analog)</vt:lpstr>
      <vt:lpstr>Labs</vt:lpstr>
      <vt:lpstr>Tasks</vt:lpstr>
      <vt:lpstr>Make a game</vt:lpstr>
      <vt:lpstr>Wrap-Up &amp; Preview of Day 2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hobby bwanali</cp:lastModifiedBy>
  <cp:revision>26</cp:revision>
  <dcterms:modified xsi:type="dcterms:W3CDTF">2025-10-19T07:59:12Z</dcterms:modified>
</cp:coreProperties>
</file>